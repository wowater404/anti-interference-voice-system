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1F4E79"/>
                </a:solidFill>
                <a:latin typeface="微软雅黑"/>
              </a:rPr>
              <a:t>复杂交互场景的</a:t>
            </a:r>
          </a:p>
          <a:p>
            <a:pPr algn="ctr"/>
            <a:r>
              <a:rPr sz="4800" b="1">
                <a:solidFill>
                  <a:srgbClr val="1F4E79"/>
                </a:solidFill>
                <a:latin typeface="微软雅黑"/>
              </a:rPr>
              <a:t>抗干扰语音指令识别系统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微软雅黑"/>
              </a:rPr>
              <a:t>V4.1 流水线技术报告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3959352" cy="3657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333333"/>
                </a:solidFill>
                <a:latin typeface="微软雅黑"/>
              </a:rPr>
              <a:t>挑战杯 XH-202615 | 发榜单位: 美的集团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72865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2E9BD6"/>
                </a:solidFill>
                <a:latin typeface="微软雅黑"/>
              </a:rPr>
              <a:t>降噪 → 人声分离 → 声纹鉴别 → 语音识别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团队会议汇报材料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汇报目录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81328"/>
            <a:ext cx="7315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系统架构总览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874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四阶段流水线与数据流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73152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41448"/>
            <a:ext cx="7315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各模型输入输出详解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降噪 / 分离 / 声纹 / ASR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73152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01568"/>
            <a:ext cx="7315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系统使用方法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79476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环境配置与推理运行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343400"/>
            <a:ext cx="73152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361688"/>
            <a:ext cx="7315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比赛重要信息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75488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评分规则 / 数据集 / 时间节点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303520"/>
            <a:ext cx="731520" cy="7315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321808"/>
            <a:ext cx="73152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V4.1 性能成果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7150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当前最优结果对比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01  系统架构总览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四阶段流水线 + 声纹决策中枢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微软雅黑"/>
              </a:rPr>
              <a:t>主阶段顺序: 降噪 → 人声分离 → 声纹鉴别 → 语音识别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2606040" cy="17373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60604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606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① 降噪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/>
              </a:rPr>
              <a:t>noisereduce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微软雅黑"/>
              </a:rPr>
              <a:t>去除静态噪声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965960"/>
            <a:ext cx="2606040" cy="173736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965960"/>
            <a:ext cx="260604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606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② 人声分离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/>
              </a:rPr>
              <a:t>SepFormer-16k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01752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微软雅黑"/>
              </a:rPr>
              <a:t>盲分离多说话人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65960"/>
            <a:ext cx="2606040" cy="173736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965960"/>
            <a:ext cx="2606040" cy="502920"/>
          </a:xfrm>
          <a:prstGeom prst="rect">
            <a:avLst/>
          </a:prstGeom>
          <a:solidFill>
            <a:srgbClr val="2C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2606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③ 声纹鉴别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/>
              </a:rPr>
              <a:t>CAM++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微软雅黑"/>
              </a:rPr>
              <a:t>目标说话人验证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965960"/>
            <a:ext cx="2606040" cy="17373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965960"/>
            <a:ext cx="260604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965960"/>
            <a:ext cx="2606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④ 语音识别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606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微软雅黑"/>
              </a:rPr>
              <a:t>Paraformer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01752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333333"/>
                </a:solidFill>
                <a:latin typeface="微软雅黑"/>
              </a:rPr>
              <a:t>文本转写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94760"/>
            <a:ext cx="112772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ED7D31"/>
                </a:solidFill>
                <a:latin typeface="微软雅黑"/>
              </a:rPr>
              <a:t>→  →  →  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77295" cy="2103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核心设计: 声纹是贯穿全流程的「决策中枢」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10728655" cy="1463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声纹介入3次: ①kws提参考声纹  ②降噪音频算相似度决策是否分离  ③分离后选轨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自适应分离: 仅当声纹相似度 &lt; 0.28 (会被拒识) 时才触发分离, 避免污染已正确样本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双阈值鉴别: 未分离样本阈值 0.28, 分离过样本阈值 0.35 (拦截neg假接受)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数据契约: 所有模型共用一条「总线」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THE UNIFIED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2801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音频格式 (所有模型的统一输入输出)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28655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2000">
                <a:solidFill>
                  <a:srgbClr val="333333"/>
                </a:solidFill>
                <a:latin typeface="微软雅黑"/>
              </a:rPr>
              <a:t>np.ndarray  |  float32  |  取值范围 [-1, 1]  |  单声道  |  采样率 16 kHz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11277295" cy="91440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1091153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CA86E"/>
                </a:solidFill>
                <a:latin typeface="微软雅黑"/>
              </a:rPr>
              <a:t>声纹格式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728655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900">
                <a:solidFill>
                  <a:srgbClr val="333333"/>
                </a:solidFill>
                <a:latin typeface="微软雅黑"/>
              </a:rPr>
              <a:t>L2 归一化的一维向量 (CAM++ 为 192 维)  |  用 cosine 相似度比较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77295" cy="2468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模块对接方式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728655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每个模块继承 Base 基类, 实现 load() + 一个核心方法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核心方法: denoise / separate / extract / transcribe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工厂函数 create_xxx(config, device) 根据 config.model 字段实例化具体实现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换模型 = 写一个新子类 + 在 config 里改 model 字段 (pipeline 逻辑不动)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模型①  noisereduce 降噪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DENOISER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01168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接口定义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denoise(audio, sr=16000) → np.ndarray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输入: cmd 原始音频 (float32, [-1,1], 16kHz)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输出: 降噪后音频 (同格式, 去除非人声噪声)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执行时机: 每个样本必跑, 无条件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01168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当前模型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算法: 频谱门限 (非深度学习)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配置: stationary=True, prop_decrease=0.8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特点: 极轻量, 去静态噪声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局限: 无法区分目标人声与干扰人声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11277295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对接要点 &amp; 更换注意事项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728655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降噪是流水线「必经之路」, 输出直接喂给声纹提取和分离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效率敏感: 每样本必跑, 别换太重的模型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换 DeepFilterNet3: 原生48kHz需16k↔48k重采样, 可能引入质量损失; 需Rust编译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换 FullSubNet+: 需手动下载checkpoint, STFT分帧处理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比赛约束: 模型权重需提前下载到 pretrained/, 运行时不联网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模型②  SepFormer-16k 人声分离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SEPARATOR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接口定义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separate(audio, sr=16000, target_embedding=None)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  → (best_audio, all_sources[])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输入: 降噪后音频 (float32, [-1,1], 16kHz)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输出: 元组 (最佳音轨, 全部音轨列表)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触发: 仅当 sim_denoised &lt; 0.28 时调用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当前模型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模型: speechbrain/sepformer-whamr16k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类型: 16kHz原生盲分离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原理: 无差别分开所有声源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输出: 2条音轨 (比赛最多2说话人)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选轨: pipeline层用CAM++声纹选轨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77295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  <a:latin typeface="微软雅黑"/>
              </a:rPr>
              <a:t>重要坑 &amp; 更换注意事项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728655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separator.py 内部 _select_best_match 用能量法选轨 (选声音最大的) → V3踩坑根源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V4修复: 在 pipeline.py 层做声纹选轨, 对每条音轨提声纹选与kws最相似的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绝不用 SepFormer-8k: 8kHz降采样导致高频丢失, V2已验证会降质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换 SpEx+ (目标说话人提取): 输出直接是目标人声不需选轨, pipeline逻辑要改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分离最耗时 (V4.1占1064s绝大部分), 换模型重点看推理速度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模型③  CAM++ 声纹鉴别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VOICEPRINT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2C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接口定义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extract(audio, sr=16000) → np.ndarray [192]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输入: 音频 (float32, [-1,1], 16kHz)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输出: 192维 L2归一化 embedding 向量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决策: cosine相似度 + 阈值判断 (pipeline层)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当前模型 &amp; 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模型: iic/speech_campplus_sv_zh-cn_16k-common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来源: ModelScope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每样本调用3次: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① kws唤醒音频 → 参考声纹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② 降噪音频 → 算 sim_denoised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③ 分离后每条音轨 → 选轨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77295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更换注意事项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728655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维度可能变: CAM++/ECAPA-TDNN为192维, WeSpeaker等可能不同 (cosine不依赖维度)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阈值必须重新校准: 双阈值0.28/0.35是CAM++专属, 换模型需在datasetA重新扫描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效率敏感: 每样本调用3次, 是被调用最频繁的模块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兼容性: voiceprint.py顶部有PyTorch2.5 FSDP2兼容patch, 遇CPUOffloadPolicy报错确认还在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声纹模块只产出embedding, 接受/拒识判断都在pipeline层 → 换模型pipeline逻辑不动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模型④  Paraformer 语音识别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ASR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接口定义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transcribe(audio, sr=16000) → str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输入: best_audio (经normalize+trim预处理)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输出: 识别文本字符串 (含标点)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后处理: pipeline层 strip_punctuation 去标点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执行: 仅对通过鉴别的样本调用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19456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微软雅黑"/>
              </a:rPr>
              <a:t>当前模型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主模型: paraformer-zh (FunASR)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VAD: fsmn-vad (自动断句)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标点: ct-punc (标点恢复)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热词: 配置领域热词 (空调/洗碗机等)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输入形式: 需临时WAV文件 (非numpy)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1277295" cy="2606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更换注意事项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728655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输入形式差异: Paraformer需临时WAV文件; Whisper/SherpaONNX可直接接受numpy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标点处理: pipeline层统一strip_punctuation, 模型不加标点也无害 (空操作)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热词能力: 换Whisper/SherpaONNX会丢失领域热词, 影响专业词汇识别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ASR最贵: 只对通过鉴别的样本跑, 拿到最干净音轨时CER最低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2E9BD6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比赛标签不含标点 → ASR输出必须去标点后再算CER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03  系统使用方法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环境配置与依赖安装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克隆仓库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git clone https://github.com/Wowater404/Anti-interference-voice-system.git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安装依赖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首次运行自动下载模型权重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onsolas"/>
              </a:rPr>
              <a:t>CAM++ (ModelScope) / SepFormer (HuggingFace) / Paraformer (FunASR)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11277295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19472"/>
            <a:ext cx="1091153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</a:rPr>
              <a:t>关键依赖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600">
                <a:solidFill>
                  <a:srgbClr val="333333"/>
                </a:solidFill>
                <a:latin typeface="微软雅黑"/>
              </a:rPr>
              <a:t>PyTorch 2.5+ (CUDA版用于GPU加速)  |  FunASR  |  speechbrain  |  modelscope  |  noisereduce  |  librosa  |  pyyaml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03  系统使用方法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推理运行与输出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64592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运行推理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728655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Consolas"/>
              </a:rPr>
              <a:t>python run_inference.py \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Consolas"/>
              </a:rPr>
              <a:t>  --data_root &lt;数据集路径&gt; \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Consolas"/>
              </a:rPr>
              <a:t>  --split all \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Consolas"/>
              </a:rPr>
              <a:t>  --output results/output.json \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Consolas"/>
              </a:rPr>
              <a:t>  --checkpoint results/checkpoint.json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486400" cy="310896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5486400" cy="502920"/>
          </a:xfrm>
          <a:prstGeom prst="rect">
            <a:avLst/>
          </a:prstGeom>
          <a:solidFill>
            <a:srgbClr val="2C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关键参数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67328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--data_root: 数据集根目录 (含pos/和neg/)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--split: all | pos | neg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--output: 结果输出JSON路径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--checkpoint: 断点续传文件路径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配置文件: configs/default.yaml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  separation.enable: 是否启用分离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  voiceprint.threshold: 声纹阈值(0.28)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  vp_threshold_separated: 分离后阈值(0.35)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200400"/>
            <a:ext cx="5486400" cy="31089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输出格式 (比赛提交JSON)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67328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{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"result": {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"results": [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  {"id": "...", "content": "识别文本",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   "label": "标签", "cer": "0.xx"}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],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"final_cer": "0.5738",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"duration": "1064.29"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},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"metrics": {"rejection_rate": "0.9367", ...}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04  比赛重要信息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评分规则与时间节点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118872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D7D31"/>
                </a:solidFill>
                <a:latin typeface="微软雅黑"/>
              </a:rPr>
              <a:t>评分公式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728655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微软雅黑"/>
              </a:rPr>
              <a:t>总分 = CER × 40%  +  RR × 40%  +  推理效率 × 20% (时间10% + 内存10%)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657600" cy="164592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36576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3383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CER (字错误率)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101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pos样本的字错误率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越低越好 (理想=0)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拒识样本按删除错误算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权重40%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743200"/>
            <a:ext cx="3657600" cy="164592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743200"/>
            <a:ext cx="36576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383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RR (拒识率)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101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neg样本被正确拒识的比例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越高越好 (理想=1)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neg只算RR不算CER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权重40%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743200"/>
            <a:ext cx="3657600" cy="164592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743200"/>
            <a:ext cx="3657600" cy="502920"/>
          </a:xfrm>
          <a:prstGeom prst="rect">
            <a:avLst/>
          </a:prstGeom>
          <a:solidFill>
            <a:srgbClr val="2C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743200"/>
            <a:ext cx="33832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微软雅黑"/>
              </a:rPr>
              <a:t>推理效率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310128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推理时间 + 内存占用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统一GPU环境: L20-46G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需提交GPU推理脚本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权重20%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77295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45152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时间节点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728655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6/30: 报名截止   |   9/5: 提交模型 + GPU推理脚本 (datasetB最终排名依据)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800">
                <a:solidFill>
                  <a:srgbClr val="333333"/>
                </a:solidFill>
                <a:latin typeface="微软雅黑"/>
              </a:rPr>
              <a:t>11月: 答辩   |   datasetA为临时排行榜, 仅开发参考, 不决定入围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04  比赛重要信息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数据集规格与CER计算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37744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数据集 datasetA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pos: 1364条 (测CER) | neg: 474条 (测RR)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音频: 16kHz / mono / 16bit WAV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kws唤醒词: 1.5s | cmd指令: 1.28~6.2s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20种唤醒词(pos), neg多2种变体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(hicolmo, 空调开机)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datasetB: 最终排名依据 (9/5前提交)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237744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CER 计算 (官方标准)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38528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1. NFKC Unicode归一化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2. lowercase 转小写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3. 全 Unicode P* 标点过滤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4. editdistance 编辑距离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5. micro-average: total_errors/total_chars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拒识输出空字符串 "" (按删除错误算)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7295" cy="2423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微软雅黑"/>
              </a:rPr>
              <a:t>比赛关键 FAQ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728655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datasetA是测评集不是训练集 → 模型为预训练直接推理 (zero-shot), 不能用它训练/微调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9/5前提交: 模型权重 + GPU推理脚本, 不是提交代码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统一环境L20-46G, 必须能用CUDA推理; 模型权重提前下载, 运行时不联网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ED7D31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neg样本只算RR不算CER; pos错误拒识按删除错误计算CER (输出空字符串)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90569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05  V4.1 性能成果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8368"/>
            <a:ext cx="9905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CCDDEE"/>
                </a:solidFill>
                <a:latin typeface="微软雅黑"/>
              </a:rPr>
              <a:t>当前最优结果对比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7295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V2 (无分离)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37160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V4 (分离 t=0.28)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371600"/>
            <a:ext cx="2862072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V4.1 (双阈值)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772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CER (micro)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0.5857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92024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0.5615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286207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CA86E"/>
                </a:solidFill>
                <a:latin typeface="微软雅黑"/>
              </a:rPr>
              <a:t>0.5738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112772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2316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2316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0.9367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42316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0.9051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286207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CA86E"/>
                </a:solidFill>
                <a:latin typeface="微软雅黑"/>
              </a:rPr>
              <a:t>0.9367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1277295" cy="50292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Score (CER40+RR40)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92608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0.5404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92608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0.5374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286207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CA86E"/>
                </a:solidFill>
                <a:latin typeface="微软雅黑"/>
              </a:rPr>
              <a:t>0.5452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112772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2900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Pos 接受数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42900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900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42900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948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429000"/>
            <a:ext cx="286207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CA86E"/>
                </a:solidFill>
                <a:latin typeface="微软雅黑"/>
              </a:rPr>
              <a:t>913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31920"/>
            <a:ext cx="11277295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2286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1F4E79"/>
                </a:solidFill>
                <a:latin typeface="微软雅黑"/>
              </a:rPr>
              <a:t>Neg 假接受数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93192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931920"/>
            <a:ext cx="2834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0">
                <a:solidFill>
                  <a:srgbClr val="333333"/>
                </a:solidFill>
                <a:latin typeface="微软雅黑"/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20"/>
            <a:ext cx="2862072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2CA86E"/>
                </a:solidFill>
                <a:latin typeface="微软雅黑"/>
              </a:rP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663440"/>
            <a:ext cx="11277295" cy="169164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736592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CA86E"/>
                </a:solidFill>
                <a:latin typeface="微软雅黑"/>
              </a:rPr>
              <a:t>V4.1 结论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10728655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CER降低0.012, RR完全不变, Score提升+0.0048 → 成功让分离模块生效并超越V2基线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2CA86E"/>
                </a:solidFill>
                <a:latin typeface="微软雅黑"/>
              </a:rPr>
              <a:t>● </a:t>
            </a:r>
            <a:r>
              <a:rPr sz="1700">
                <a:solidFill>
                  <a:srgbClr val="333333"/>
                </a:solidFill>
                <a:latin typeface="微软雅黑"/>
              </a:rPr>
              <a:t>救回13个pos样本, 0个neg假接受 (双阈值0.35完美拦截分离后的neg假接受)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73152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88888"/>
                </a:solidFill>
                <a:latin typeface="微软雅黑"/>
              </a:rPr>
              <a:t>抗干扰语音指令识别系统 | XH-202615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565392"/>
            <a:ext cx="8229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1F4E79"/>
                </a:solidFill>
                <a:latin typeface="微软雅黑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10362895" cy="1051560"/>
          </a:xfrm>
          <a:prstGeom prst="rect">
            <a:avLst/>
          </a:prstGeom>
          <a:solidFill>
            <a:srgbClr val="DA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37160" cy="10515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86000"/>
            <a:ext cx="990569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E9BD6"/>
                </a:solidFill>
                <a:latin typeface="微软雅黑"/>
              </a:rPr>
              <a:t>完整流水线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9905695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降噪→分离→声纹→ASR 四阶段, 声纹作为决策中枢贯穿全流程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83280"/>
            <a:ext cx="10362895" cy="1051560"/>
          </a:xfrm>
          <a:prstGeom prst="rect">
            <a:avLst/>
          </a:prstGeom>
          <a:solidFill>
            <a:srgbClr val="FDE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383280"/>
            <a:ext cx="137160" cy="10515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474720"/>
            <a:ext cx="990569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ED7D31"/>
                </a:solidFill>
                <a:latin typeface="微软雅黑"/>
              </a:rPr>
              <a:t>V4.1 双阈值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86200"/>
            <a:ext cx="9905695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自适应分离+声纹选轨+双阈值, CER 0.5738 / RR 0.9367 / Score 0.5452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572000"/>
            <a:ext cx="10362895" cy="1051560"/>
          </a:xfrm>
          <a:prstGeom prst="rect">
            <a:avLst/>
          </a:prstGeom>
          <a:solidFill>
            <a:srgbClr val="D5EA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572000"/>
            <a:ext cx="137160" cy="1051560"/>
          </a:xfrm>
          <a:prstGeom prst="rect">
            <a:avLst/>
          </a:prstGeom>
          <a:solidFill>
            <a:srgbClr val="2CA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63440"/>
            <a:ext cx="990569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CA86E"/>
                </a:solidFill>
                <a:latin typeface="微软雅黑"/>
              </a:rPr>
              <a:t>模块可替换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74920"/>
            <a:ext cx="9905695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微软雅黑"/>
              </a:rPr>
              <a:t>统一接口契约, 换模型只需写新子类+改config, pipeline逻辑不动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760720"/>
            <a:ext cx="10362895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97135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</a:rPr>
              <a:t>后续优化方向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9997135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微软雅黑"/>
              </a:rPr>
              <a:t>SpEx+目标说话人提取  |  sep_trigger_min优化分离触发范围  |  L20-46G GPU推理加速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72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谢谢观看  |  抗干扰语音指令识别系统  |  XH-202615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